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1810"/>
          </a:solidFill>
          <a:ln/>
        </p:spPr>
      </p:sp>
      <p:sp>
        <p:nvSpPr>
          <p:cNvPr id="3" name="Shape 1"/>
          <p:cNvSpPr/>
          <p:nvPr/>
        </p:nvSpPr>
        <p:spPr>
          <a:xfrm>
            <a:off x="411480" y="411480"/>
            <a:ext cx="11365992" cy="6035040"/>
          </a:xfrm>
          <a:prstGeom prst="rect">
            <a:avLst/>
          </a:prstGeom>
          <a:solidFill>
            <a:srgbClr val="F3E6D0"/>
          </a:solidFill>
          <a:ln w="19050">
            <a:solidFill>
              <a:srgbClr val="C9A22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94360" y="594360"/>
            <a:ext cx="11000232" cy="5669280"/>
          </a:xfrm>
          <a:prstGeom prst="rect">
            <a:avLst/>
          </a:prstGeom>
          <a:ln w="12700">
            <a:solidFill>
              <a:srgbClr val="2A2218">
                <a:alpha val="45000"/>
              </a:srgbClr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914400" y="118872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C23B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Family Travel Sketchbook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14400" y="1737360"/>
            <a:ext cx="10332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A22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京都 · 大阪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914400" y="2423160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A7B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親子手繪行程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914400" y="320040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專車直達版  ·  御金神社  ·  敘敘苑燒肉  ·  雙神社參拜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2286000" y="3840480"/>
            <a:ext cx="7589520" cy="502920"/>
          </a:xfrm>
          <a:prstGeom prst="roundRect">
            <a:avLst>
              <a:gd name="adj" fmla="val 45455"/>
            </a:avLst>
          </a:prstGeom>
          <a:solidFill>
            <a:srgbClr val="FFF8EB"/>
          </a:solidFill>
          <a:ln w="12700">
            <a:solidFill>
              <a:srgbClr val="2A2218">
                <a:alpha val="4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286000" y="3913632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A22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2026.8.3（一）– 8.8（六）   ·   6 天 5 夜   ·   星宇 · 關西 KIX   ·   nol sanjo → OMO7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784080" y="822960"/>
            <a:ext cx="1234440" cy="1234440"/>
          </a:xfrm>
          <a:prstGeom prst="ellipse">
            <a:avLst/>
          </a:prstGeom>
          <a:ln w="31750">
            <a:solidFill>
              <a:srgbClr val="C23B2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0" y="1005840"/>
            <a:ext cx="1234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3B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御金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C23B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祈願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C23B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安全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097280" y="4846320"/>
            <a:ext cx="9966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核心策略：專車點對點  ·  烏丸精緻美食  ·  全室內避暑  ·  彈性幼兒放電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914400" y="5486400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C23B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Safe travels  ·  金運滿滿  ·  寶寶開心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6D0"/>
          </a:solidFill>
          <a:ln w="12700">
            <a:solidFill>
              <a:srgbClr val="F3E6D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56032" y="256032"/>
            <a:ext cx="11676888" cy="6345936"/>
          </a:xfrm>
          <a:prstGeom prst="rect">
            <a:avLst/>
          </a:prstGeom>
          <a:ln w="12700">
            <a:solidFill>
              <a:srgbClr val="2A2218">
                <a:alpha val="30000"/>
              </a:srgbClr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548640" y="4114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22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六日一覽地圖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點對點專車串起京都與大阪，彈性舒適放電動線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02920" y="1554480"/>
            <a:ext cx="1783080" cy="4023360"/>
          </a:xfrm>
          <a:prstGeom prst="roundRect">
            <a:avLst>
              <a:gd name="adj" fmla="val 5128"/>
            </a:avLst>
          </a:prstGeom>
          <a:solidFill>
            <a:srgbClr val="FFF8EB"/>
          </a:solidFill>
          <a:ln w="19050">
            <a:solidFill>
              <a:srgbClr val="C23B22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02920" y="1554480"/>
            <a:ext cx="1783080" cy="109728"/>
          </a:xfrm>
          <a:prstGeom prst="rect">
            <a:avLst/>
          </a:prstGeom>
          <a:solidFill>
            <a:srgbClr val="C23B22"/>
          </a:solidFill>
          <a:ln w="12700">
            <a:solidFill>
              <a:srgbClr val="C23B2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187452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23B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D1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502920" y="228600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8/3 一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76072" y="283464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A22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抵達京都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94360" y="3474720"/>
            <a:ext cx="1600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御金神社快閃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HUMAN MADE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423160" y="1554480"/>
            <a:ext cx="1783080" cy="4023360"/>
          </a:xfrm>
          <a:prstGeom prst="roundRect">
            <a:avLst>
              <a:gd name="adj" fmla="val 5128"/>
            </a:avLst>
          </a:prstGeom>
          <a:solidFill>
            <a:srgbClr val="FFF8EB"/>
          </a:solidFill>
          <a:ln w="19050">
            <a:solidFill>
              <a:srgbClr val="9A7B1A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2423160" y="1554480"/>
            <a:ext cx="1783080" cy="109728"/>
          </a:xfrm>
          <a:prstGeom prst="rect">
            <a:avLst/>
          </a:prstGeom>
          <a:solidFill>
            <a:srgbClr val="9A7B1A"/>
          </a:solidFill>
          <a:ln w="12700">
            <a:solidFill>
              <a:srgbClr val="9A7B1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423160" y="187452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A7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D2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423160" y="228600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8/4 二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496312" y="283464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A22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烏丸燒肉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2514600" y="3474720"/>
            <a:ext cx="1600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大丸 · 敘敘苑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天滿宮 &amp; 檀王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343400" y="1554480"/>
            <a:ext cx="1783080" cy="4023360"/>
          </a:xfrm>
          <a:prstGeom prst="roundRect">
            <a:avLst>
              <a:gd name="adj" fmla="val 5128"/>
            </a:avLst>
          </a:prstGeom>
          <a:solidFill>
            <a:srgbClr val="FFF8EB"/>
          </a:solidFill>
          <a:ln w="19050">
            <a:solidFill>
              <a:srgbClr val="6B7F5A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343400" y="1554480"/>
            <a:ext cx="1783080" cy="109728"/>
          </a:xfrm>
          <a:prstGeom prst="rect">
            <a:avLst/>
          </a:prstGeom>
          <a:solidFill>
            <a:srgbClr val="6B7F5A"/>
          </a:solidFill>
          <a:ln w="12700">
            <a:solidFill>
              <a:srgbClr val="6B7F5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343400" y="187452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B7F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D3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4343400" y="228600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8/5 三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416552" y="283464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A22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專車轉進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4434840" y="3474720"/>
            <a:ext cx="1600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飯店直達 OMO7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Miya 大草皮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263640" y="1554480"/>
            <a:ext cx="1783080" cy="4023360"/>
          </a:xfrm>
          <a:prstGeom prst="roundRect">
            <a:avLst>
              <a:gd name="adj" fmla="val 5128"/>
            </a:avLst>
          </a:prstGeom>
          <a:solidFill>
            <a:srgbClr val="FFF8EB"/>
          </a:solidFill>
          <a:ln w="19050">
            <a:solidFill>
              <a:srgbClr val="4A6B7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263640" y="1554480"/>
            <a:ext cx="1783080" cy="109728"/>
          </a:xfrm>
          <a:prstGeom prst="rect">
            <a:avLst/>
          </a:prstGeom>
          <a:solidFill>
            <a:srgbClr val="4A6B7C"/>
          </a:solidFill>
          <a:ln w="12700">
            <a:solidFill>
              <a:srgbClr val="4A6B7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263640" y="187452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A6B7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D4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6263640" y="228600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8/6 四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336792" y="283464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A22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神戶 · 夜景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6355080" y="3474720"/>
            <a:ext cx="1600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麵包超人博物館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Harukas &amp; 阿卡將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8183880" y="1554480"/>
            <a:ext cx="1783080" cy="4023360"/>
          </a:xfrm>
          <a:prstGeom prst="roundRect">
            <a:avLst>
              <a:gd name="adj" fmla="val 5128"/>
            </a:avLst>
          </a:prstGeom>
          <a:solidFill>
            <a:srgbClr val="FFF8EB"/>
          </a:solidFill>
          <a:ln w="19050">
            <a:solidFill>
              <a:srgbClr val="C45C3E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8183880" y="1554480"/>
            <a:ext cx="1783080" cy="109728"/>
          </a:xfrm>
          <a:prstGeom prst="rect">
            <a:avLst/>
          </a:prstGeom>
          <a:solidFill>
            <a:srgbClr val="C45C3E"/>
          </a:solidFill>
          <a:ln w="12700">
            <a:solidFill>
              <a:srgbClr val="C45C3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183880" y="187452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45C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D5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8183880" y="228600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8/7 五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8257032" y="283464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A22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深海 · 草皮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8275320" y="3474720"/>
            <a:ext cx="1600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天保山海遊館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OMO7 草皮散步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10104120" y="1554480"/>
            <a:ext cx="1783080" cy="4023360"/>
          </a:xfrm>
          <a:prstGeom prst="roundRect">
            <a:avLst>
              <a:gd name="adj" fmla="val 5128"/>
            </a:avLst>
          </a:prstGeom>
          <a:solidFill>
            <a:srgbClr val="FFF8EB"/>
          </a:solidFill>
          <a:ln w="19050">
            <a:solidFill>
              <a:srgbClr val="5C4A38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10104120" y="1554480"/>
            <a:ext cx="1783080" cy="109728"/>
          </a:xfrm>
          <a:prstGeom prst="rect">
            <a:avLst/>
          </a:prstGeom>
          <a:solidFill>
            <a:srgbClr val="5C4A38"/>
          </a:solidFill>
          <a:ln w="12700">
            <a:solidFill>
              <a:srgbClr val="5C4A3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0104120" y="187452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C4A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D6</a:t>
            </a:r>
            <a:endParaRPr lang="en-US" sz="2200" dirty="0"/>
          </a:p>
        </p:txBody>
      </p:sp>
      <p:sp>
        <p:nvSpPr>
          <p:cNvPr id="39" name="Text 37"/>
          <p:cNvSpPr/>
          <p:nvPr/>
        </p:nvSpPr>
        <p:spPr>
          <a:xfrm>
            <a:off x="10104120" y="228600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8/8 六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10177272" y="283464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A22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專車返台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10195560" y="3474720"/>
            <a:ext cx="1600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OMO7 → KIX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JX821 13:15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457200" y="6446520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4A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京都 · 大阪 親子行程  ·  2026.8.3–8.8  ·  2/10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6D0"/>
          </a:solidFill>
          <a:ln w="12700">
            <a:solidFill>
              <a:srgbClr val="F3E6D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56032" y="256032"/>
            <a:ext cx="11676888" cy="6345936"/>
          </a:xfrm>
          <a:prstGeom prst="rect">
            <a:avLst/>
          </a:prstGeom>
          <a:ln w="12700">
            <a:solidFill>
              <a:srgbClr val="2A2218">
                <a:alpha val="30000"/>
              </a:srgbClr>
            </a:solidFill>
            <a:prstDash val="dash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23B22"/>
          </a:solidFill>
          <a:ln w="12700">
            <a:solidFill>
              <a:srgbClr val="C23B2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3657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23B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01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02920" y="68580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22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抵達京都 · 專車直達、御金快閃與三條美學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02920" y="11887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8/3（週一）  ·  京都中京區  ·  「專車無縫接送，金運快閃與潮牌咖啡散步」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94360" y="1801368"/>
            <a:ext cx="256032" cy="256032"/>
          </a:xfrm>
          <a:prstGeom prst="ellipse">
            <a:avLst/>
          </a:prstGeom>
          <a:solidFill>
            <a:srgbClr val="FFF8EB"/>
          </a:solidFill>
          <a:ln w="25400">
            <a:solidFill>
              <a:srgbClr val="C23B2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13232" y="2075688"/>
            <a:ext cx="0" cy="777240"/>
          </a:xfrm>
          <a:prstGeom prst="line">
            <a:avLst/>
          </a:prstGeom>
          <a:noFill/>
          <a:ln w="15875">
            <a:solidFill>
              <a:srgbClr val="2A2218">
                <a:alpha val="50000"/>
              </a:srgbClr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1051560" y="169164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23B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12:05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108960" y="169164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22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關西國際機場（KIX）降落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108960" y="2039112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出關、提取行李。保持節奏緩慢，讓寶寶適應環境。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94360" y="2852928"/>
            <a:ext cx="256032" cy="256032"/>
          </a:xfrm>
          <a:prstGeom prst="ellipse">
            <a:avLst/>
          </a:prstGeom>
          <a:solidFill>
            <a:srgbClr val="FFF8EB"/>
          </a:solidFill>
          <a:ln w="25400">
            <a:solidFill>
              <a:srgbClr val="C23B2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13232" y="3127248"/>
            <a:ext cx="0" cy="777240"/>
          </a:xfrm>
          <a:prstGeom prst="line">
            <a:avLst/>
          </a:prstGeom>
          <a:noFill/>
          <a:ln w="15875">
            <a:solidFill>
              <a:srgbClr val="2A2218">
                <a:alpha val="50000"/>
              </a:srgbClr>
            </a:solidFill>
            <a:prstDash val="dash"/>
          </a:ln>
        </p:spPr>
      </p:sp>
      <p:sp>
        <p:nvSpPr>
          <p:cNvPr id="15" name="Text 13"/>
          <p:cNvSpPr/>
          <p:nvPr/>
        </p:nvSpPr>
        <p:spPr>
          <a:xfrm>
            <a:off x="1051560" y="274320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23B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13:30 前後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3108960" y="274320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22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外派接駁車 D1 · 機場直達飯店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3108960" y="3090672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專車直達 nol kyoto sanjo。車程約 80–90 分鐘，寶寶於車上休息。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94360" y="3904488"/>
            <a:ext cx="256032" cy="256032"/>
          </a:xfrm>
          <a:prstGeom prst="ellipse">
            <a:avLst/>
          </a:prstGeom>
          <a:solidFill>
            <a:srgbClr val="FFF8EB"/>
          </a:solidFill>
          <a:ln w="25400">
            <a:solidFill>
              <a:srgbClr val="C23B2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13232" y="4178808"/>
            <a:ext cx="0" cy="777240"/>
          </a:xfrm>
          <a:prstGeom prst="line">
            <a:avLst/>
          </a:prstGeom>
          <a:noFill/>
          <a:ln w="15875">
            <a:solidFill>
              <a:srgbClr val="2A2218">
                <a:alpha val="50000"/>
              </a:srgbClr>
            </a:solidFill>
            <a:prstDash val="dash"/>
          </a:ln>
        </p:spPr>
      </p:sp>
      <p:sp>
        <p:nvSpPr>
          <p:cNvPr id="20" name="Text 18"/>
          <p:cNvSpPr/>
          <p:nvPr/>
        </p:nvSpPr>
        <p:spPr>
          <a:xfrm>
            <a:off x="1051560" y="379476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23B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15:40–16:30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3108960" y="379476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22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【計程車快閃】御金神社參拜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3108960" y="4142232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飯店門口搭計程車 5 分鐘直達。參拜金山毘古神，17:00 社務所關閉前購入金運御守。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94360" y="4956048"/>
            <a:ext cx="256032" cy="256032"/>
          </a:xfrm>
          <a:prstGeom prst="ellipse">
            <a:avLst/>
          </a:prstGeom>
          <a:solidFill>
            <a:srgbClr val="FFF8EB"/>
          </a:solidFill>
          <a:ln w="25400">
            <a:solidFill>
              <a:srgbClr val="C23B2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51560" y="484632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23B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16:40–17:30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3108960" y="484632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22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HUMAN MADE 1928 &amp; LE LABO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3108960" y="5193792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HUMAN MADE 1928 Cafe by Blue Bottle Coffee 與 LE LABO KYOTO 美學散步（離飯店 350m）。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57200" y="6446520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4A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京都 · 大阪 親子行程  ·  2026.8.3–8.8  ·  3/10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6D0"/>
          </a:solidFill>
          <a:ln w="12700">
            <a:solidFill>
              <a:srgbClr val="F3E6D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56032" y="256032"/>
            <a:ext cx="11676888" cy="6345936"/>
          </a:xfrm>
          <a:prstGeom prst="rect">
            <a:avLst/>
          </a:prstGeom>
          <a:ln w="12700">
            <a:solidFill>
              <a:srgbClr val="2A2218">
                <a:alpha val="30000"/>
              </a:srgbClr>
            </a:solidFill>
            <a:prstDash val="dash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3200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7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02  ★  重點日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02920" y="64008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A22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烏丸極致體驗 · 敘敘苑燒肉與雙神社參拜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02920" y="10972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8/4（週二）  ·  鴨川散步 → 大丸/SHAKE SHACK → 敘敘苑 → 吉祥院天滿宮 → 檀王法林寺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645920"/>
            <a:ext cx="2194560" cy="2286000"/>
          </a:xfrm>
          <a:prstGeom prst="roundRect">
            <a:avLst>
              <a:gd name="adj" fmla="val 4167"/>
            </a:avLst>
          </a:prstGeom>
          <a:solidFill>
            <a:srgbClr val="FFF8EB"/>
          </a:solidFill>
          <a:ln w="19050">
            <a:solidFill>
              <a:srgbClr val="6B7F5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18288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B7F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09:00–10:15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48640" y="233172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A22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鴨川/三條散步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548640" y="310896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晨間推車涼風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468880" y="2468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A7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2788920" y="1645920"/>
            <a:ext cx="2194560" cy="2286000"/>
          </a:xfrm>
          <a:prstGeom prst="roundRect">
            <a:avLst>
              <a:gd name="adj" fmla="val 4167"/>
            </a:avLst>
          </a:prstGeom>
          <a:solidFill>
            <a:srgbClr val="FFF8EB"/>
          </a:solidFill>
          <a:ln w="19050">
            <a:solidFill>
              <a:srgbClr val="4A6B7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788920" y="18288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A6B7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10:30–12:20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880360" y="233172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A22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大丸/SHAKE SHACK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2880360" y="310896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寶可夢中心避暑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00600" y="2468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A7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5120640" y="1645920"/>
            <a:ext cx="2194560" cy="2286000"/>
          </a:xfrm>
          <a:prstGeom prst="roundRect">
            <a:avLst>
              <a:gd name="adj" fmla="val 4167"/>
            </a:avLst>
          </a:prstGeom>
          <a:solidFill>
            <a:srgbClr val="FFF8EB"/>
          </a:solidFill>
          <a:ln w="19050">
            <a:solidFill>
              <a:srgbClr val="C23B2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120640" y="18288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3B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12:30–14:00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212080" y="233172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A22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敘敘苑 四條烏丸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5212080" y="310896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已預訂 · 頂級燒肉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132320" y="2468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A7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7452360" y="1645920"/>
            <a:ext cx="2194560" cy="2286000"/>
          </a:xfrm>
          <a:prstGeom prst="roundRect">
            <a:avLst>
              <a:gd name="adj" fmla="val 4167"/>
            </a:avLst>
          </a:prstGeom>
          <a:solidFill>
            <a:srgbClr val="FFF8EB"/>
          </a:solidFill>
          <a:ln w="19050">
            <a:solidFill>
              <a:srgbClr val="2A221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452360" y="18288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A22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14:15–15:00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543800" y="233172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A22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吉祥院天滿宮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7543800" y="310896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計程車 18 分參拜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9464040" y="2468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A7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2000" dirty="0"/>
          </a:p>
        </p:txBody>
      </p:sp>
      <p:sp>
        <p:nvSpPr>
          <p:cNvPr id="28" name="Shape 26"/>
          <p:cNvSpPr/>
          <p:nvPr/>
        </p:nvSpPr>
        <p:spPr>
          <a:xfrm>
            <a:off x="9784080" y="1645920"/>
            <a:ext cx="2194560" cy="2286000"/>
          </a:xfrm>
          <a:prstGeom prst="roundRect">
            <a:avLst>
              <a:gd name="adj" fmla="val 4167"/>
            </a:avLst>
          </a:prstGeom>
          <a:solidFill>
            <a:srgbClr val="FFF8EB"/>
          </a:solidFill>
          <a:ln w="19050">
            <a:solidFill>
              <a:srgbClr val="9A7B1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784080" y="18288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9A7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15:20–16:00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9875520" y="233172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A22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檀王法林寺</a:t>
            </a:r>
            <a:endParaRPr lang="en-US" sz="1700" dirty="0"/>
          </a:p>
        </p:txBody>
      </p:sp>
      <p:sp>
        <p:nvSpPr>
          <p:cNvPr id="31" name="Text 29"/>
          <p:cNvSpPr/>
          <p:nvPr/>
        </p:nvSpPr>
        <p:spPr>
          <a:xfrm>
            <a:off x="9875520" y="310896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黑招財貓御守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502920" y="4251960"/>
            <a:ext cx="11155680" cy="1737360"/>
          </a:xfrm>
          <a:prstGeom prst="roundRect">
            <a:avLst>
              <a:gd name="adj" fmla="val 4211"/>
            </a:avLst>
          </a:prstGeom>
          <a:solidFill>
            <a:srgbClr val="F5E9C8"/>
          </a:solidFill>
          <a:ln w="15875">
            <a:solidFill>
              <a:srgbClr val="9A7B1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31520" y="4434840"/>
            <a:ext cx="10698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A7B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D2 動線順暢度總結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731520" y="484632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22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四條烏丸核心區（大丸京都店寶可夢中心 + SHAKE SHACK）無縫接軌 12:30 預訂之敘敘苑燒肉午餐。午後搭計程車順路參拜吉祥院天滿宮與檀王法林寺，時間極度完美緊扣 17:00 社務所關門線，購入黑招財貓御守。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457200" y="6446520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4A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京都 · 大阪 親子行程  ·  2026.8.3–8.8  ·  4/10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6D0"/>
          </a:solidFill>
          <a:ln w="12700">
            <a:solidFill>
              <a:srgbClr val="F3E6D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56032" y="256032"/>
            <a:ext cx="11676888" cy="6345936"/>
          </a:xfrm>
          <a:prstGeom prst="rect">
            <a:avLst/>
          </a:prstGeom>
          <a:ln w="12700">
            <a:solidFill>
              <a:srgbClr val="2A2218">
                <a:alpha val="30000"/>
              </a:srgbClr>
            </a:solidFill>
            <a:prstDash val="dash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3200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A7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SPOTS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02920" y="6400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A22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四條烏丸美學美食與雙神社攻略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457200" y="1325880"/>
            <a:ext cx="5486400" cy="4663440"/>
          </a:xfrm>
          <a:prstGeom prst="roundRect">
            <a:avLst>
              <a:gd name="adj" fmla="val 1961"/>
            </a:avLst>
          </a:prstGeom>
          <a:solidFill>
            <a:srgbClr val="FFF8EB"/>
          </a:solidFill>
          <a:ln w="15875">
            <a:solidFill>
              <a:srgbClr val="9A7B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150876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A7B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四條烏丸核心基地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85800" y="1965960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23B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大丸京都店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85800" y="2221992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10:00開店避暑 · 2F 寶可夢中心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頂級育嬰室 · 地下美食街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85800" y="3246120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23B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SHAKE SHACK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85800" y="3502152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京都四條烏丸店 · 大丸正後方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關西限定宇治抹茶奶昔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85800" y="4526280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23B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敘敘苑 游玄亭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85800" y="4782312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已預訂 12:30 用餐 · FT 烏丸大樓 8F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奢華包廂 · 頂級和牛燒肉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217920" y="1325880"/>
            <a:ext cx="5440680" cy="2194560"/>
          </a:xfrm>
          <a:prstGeom prst="roundRect">
            <a:avLst>
              <a:gd name="adj" fmla="val 4167"/>
            </a:avLst>
          </a:prstGeom>
          <a:solidFill>
            <a:srgbClr val="F5E9C8"/>
          </a:solidFill>
          <a:ln w="15875">
            <a:solidFill>
              <a:srgbClr val="C9A22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46520" y="150876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A7B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吉祥院天滿宮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446520" y="1965960"/>
            <a:ext cx="5029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A22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定位：菅原道真（學問之神）誕生地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A22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交通：敘敘苑門口計程車 15–20 分直達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A22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時間：14:15–15:00 參拜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217920" y="3749040"/>
            <a:ext cx="5440680" cy="2240280"/>
          </a:xfrm>
          <a:prstGeom prst="roundRect">
            <a:avLst>
              <a:gd name="adj" fmla="val 4082"/>
            </a:avLst>
          </a:prstGeom>
          <a:solidFill>
            <a:srgbClr val="F8E8E4"/>
          </a:solidFill>
          <a:ln w="15875">
            <a:solidFill>
              <a:srgbClr val="C23B2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46520" y="393192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23B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檀王法林寺（黑招財貓）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446520" y="4389120"/>
            <a:ext cx="50292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A22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文化：日本最古老招財貓主夜神傳承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A22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限制：社務所 17:00 關門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A22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策略：15:20–16:00 抵達順利購入黑招財貓御守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57200" y="6446520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4A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京都 · 大阪 親子行程  ·  2026.8.3–8.8  ·  5/10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6D0"/>
          </a:solidFill>
          <a:ln w="12700">
            <a:solidFill>
              <a:srgbClr val="F3E6D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56032" y="256032"/>
            <a:ext cx="11676888" cy="6345936"/>
          </a:xfrm>
          <a:prstGeom prst="rect">
            <a:avLst/>
          </a:prstGeom>
          <a:ln w="12700">
            <a:solidFill>
              <a:srgbClr val="2A2218">
                <a:alpha val="30000"/>
              </a:srgbClr>
            </a:solidFill>
            <a:prstDash val="dash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6B7F5A"/>
          </a:solidFill>
          <a:ln w="12700">
            <a:solidFill>
              <a:srgbClr val="6B7F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3657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7F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03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02920" y="6858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22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京都 → 大阪移動日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02920" y="11430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8/5（週三）  ·  專車無縫直達 OMO7 Osaka 與星野大草皮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02920" y="1691640"/>
            <a:ext cx="5486400" cy="1874520"/>
          </a:xfrm>
          <a:prstGeom prst="roundRect">
            <a:avLst>
              <a:gd name="adj" fmla="val 4878"/>
            </a:avLst>
          </a:prstGeom>
          <a:solidFill>
            <a:srgbClr val="FFF8EB"/>
          </a:solidFill>
          <a:ln w="15875">
            <a:solidFill>
              <a:srgbClr val="6B7F5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192024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B7F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10:00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" y="22860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A22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退房上車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731520" y="2743200"/>
            <a:ext cx="5029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nol kyoto sanjo 辦理退房，行李直接放入專車後車廂。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263640" y="1691640"/>
            <a:ext cx="5486400" cy="1874520"/>
          </a:xfrm>
          <a:prstGeom prst="roundRect">
            <a:avLst>
              <a:gd name="adj" fmla="val 4878"/>
            </a:avLst>
          </a:prstGeom>
          <a:solidFill>
            <a:srgbClr val="FFF8EB"/>
          </a:solidFill>
          <a:ln w="15875">
            <a:solidFill>
              <a:srgbClr val="6B7F5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92240" y="192024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B7F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10:15–11:30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492240" y="22860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A22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專車直達 OMO7 Osaka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492240" y="2743200"/>
            <a:ext cx="5029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外派接駁車 D2 飯店對飯店點對點直達，零搬運壓力。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02920" y="3794760"/>
            <a:ext cx="5486400" cy="1874520"/>
          </a:xfrm>
          <a:prstGeom prst="roundRect">
            <a:avLst>
              <a:gd name="adj" fmla="val 4878"/>
            </a:avLst>
          </a:prstGeom>
          <a:solidFill>
            <a:srgbClr val="FFF8EB"/>
          </a:solidFill>
          <a:ln w="15875">
            <a:solidFill>
              <a:srgbClr val="6B7F5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402336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B7F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午後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731520" y="43891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A22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OMO Base 大廳休整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731520" y="4846320"/>
            <a:ext cx="5029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強勁冷氣、沙發舒適，輕鬆體驗星野大廳美學空間。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263640" y="3794760"/>
            <a:ext cx="5486400" cy="1874520"/>
          </a:xfrm>
          <a:prstGeom prst="roundRect">
            <a:avLst>
              <a:gd name="adj" fmla="val 4878"/>
            </a:avLst>
          </a:prstGeom>
          <a:solidFill>
            <a:srgbClr val="FFF8EB"/>
          </a:solidFill>
          <a:ln w="15875">
            <a:solidFill>
              <a:srgbClr val="6B7F5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92240" y="402336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B7F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傍晚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492240" y="43891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A22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Miya-green 大草皮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6492240" y="4846320"/>
            <a:ext cx="5029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數千坪封閉安全草皮放電；住客限定 PIKA PIKA NIGHT 與免費章魚燒。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57200" y="6446520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4A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京都 · 大阪 親子行程  ·  2026.8.3–8.8  ·  6/10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6D0"/>
          </a:solidFill>
          <a:ln w="12700">
            <a:solidFill>
              <a:srgbClr val="F3E6D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56032" y="256032"/>
            <a:ext cx="11676888" cy="6345936"/>
          </a:xfrm>
          <a:prstGeom prst="rect">
            <a:avLst/>
          </a:prstGeom>
          <a:ln w="12700">
            <a:solidFill>
              <a:srgbClr val="2A2218">
                <a:alpha val="30000"/>
              </a:srgbClr>
            </a:solidFill>
            <a:prstDash val="dash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A6B7C"/>
          </a:solidFill>
          <a:ln w="12700">
            <a:solidFill>
              <a:srgbClr val="4A6B7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3657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A6B7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04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02920" y="6858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22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神戶放電 · 阿倍野高空夜景與近鐵阿卡將採購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02920" y="11430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8/6（週四）  ·  神戶 → 大阪天王寺  ·  「麵包超人全室內放電，晚上 Harukas 夜景」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02920" y="1645920"/>
            <a:ext cx="11155680" cy="1280160"/>
          </a:xfrm>
          <a:prstGeom prst="roundRect">
            <a:avLst>
              <a:gd name="adj" fmla="val 5714"/>
            </a:avLst>
          </a:prstGeom>
          <a:solidFill>
            <a:srgbClr val="FFF8EB"/>
          </a:solidFill>
          <a:ln w="15875">
            <a:solidFill>
              <a:srgbClr val="4A6B7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85800" y="1965960"/>
            <a:ext cx="1371600" cy="640080"/>
          </a:xfrm>
          <a:prstGeom prst="roundRect">
            <a:avLst>
              <a:gd name="adj" fmla="val 11429"/>
            </a:avLst>
          </a:prstGeom>
          <a:solidFill>
            <a:srgbClr val="4A6B7C"/>
          </a:solidFill>
          <a:ln/>
        </p:spPr>
      </p:sp>
      <p:sp>
        <p:nvSpPr>
          <p:cNvPr id="10" name="Text 8"/>
          <p:cNvSpPr/>
          <p:nvPr/>
        </p:nvSpPr>
        <p:spPr>
          <a:xfrm>
            <a:off x="685800" y="205740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上午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2286000" y="1828800"/>
            <a:ext cx="9052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A22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神戶 · 麵包超人兒童博物館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2286000" y="2148840"/>
            <a:ext cx="9052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開館直入，全室內冷氣避暑，幼兒高放電效率公園。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286000" y="2514600"/>
            <a:ext cx="9052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6B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全室內避暑 · 高放電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02920" y="3063240"/>
            <a:ext cx="11155680" cy="1280160"/>
          </a:xfrm>
          <a:prstGeom prst="roundRect">
            <a:avLst>
              <a:gd name="adj" fmla="val 5714"/>
            </a:avLst>
          </a:prstGeom>
          <a:solidFill>
            <a:srgbClr val="FFF8EB"/>
          </a:solidFill>
          <a:ln w="15875">
            <a:solidFill>
              <a:srgbClr val="4A6B7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85800" y="3383280"/>
            <a:ext cx="1371600" cy="640080"/>
          </a:xfrm>
          <a:prstGeom prst="roundRect">
            <a:avLst>
              <a:gd name="adj" fmla="val 11429"/>
            </a:avLst>
          </a:prstGeom>
          <a:solidFill>
            <a:srgbClr val="4A6B7C"/>
          </a:solidFill>
          <a:ln/>
        </p:spPr>
      </p:sp>
      <p:sp>
        <p:nvSpPr>
          <p:cNvPr id="16" name="Text 14"/>
          <p:cNvSpPr/>
          <p:nvPr/>
        </p:nvSpPr>
        <p:spPr>
          <a:xfrm>
            <a:off x="685800" y="347472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下午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2286000" y="3246120"/>
            <a:ext cx="9052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A22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返大阪車程 / 飯店休整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2286000" y="3566160"/>
            <a:ext cx="9052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返大阪輕鬆移動與返回 OMO7 休整。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2286000" y="3931920"/>
            <a:ext cx="9052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6B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輕鬆休整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02920" y="4480560"/>
            <a:ext cx="11155680" cy="1280160"/>
          </a:xfrm>
          <a:prstGeom prst="roundRect">
            <a:avLst>
              <a:gd name="adj" fmla="val 5714"/>
            </a:avLst>
          </a:prstGeom>
          <a:solidFill>
            <a:srgbClr val="FFF8EB"/>
          </a:solidFill>
          <a:ln w="15875">
            <a:solidFill>
              <a:srgbClr val="4A6B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85800" y="4800600"/>
            <a:ext cx="1371600" cy="640080"/>
          </a:xfrm>
          <a:prstGeom prst="roundRect">
            <a:avLst>
              <a:gd name="adj" fmla="val 11429"/>
            </a:avLst>
          </a:prstGeom>
          <a:solidFill>
            <a:srgbClr val="4A6B7C"/>
          </a:solidFill>
          <a:ln/>
        </p:spPr>
      </p:sp>
      <p:sp>
        <p:nvSpPr>
          <p:cNvPr id="22" name="Text 20"/>
          <p:cNvSpPr/>
          <p:nvPr/>
        </p:nvSpPr>
        <p:spPr>
          <a:xfrm>
            <a:off x="685800" y="489204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傍晚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2286000" y="4663440"/>
            <a:ext cx="9052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A22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阿倍野 Harukas 觀景台 · 近鐵阿卡將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2286000" y="4983480"/>
            <a:ext cx="9052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高空夜景體驗；於近鐵百貨 8F 阿卡將本鋪集中採購母嬰用品與藥妝。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2286000" y="5349240"/>
            <a:ext cx="9052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6B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頂級育嬰室 · 阿卡將 8F · 夜景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57200" y="6446520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4A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京都 · 大阪 親子行程  ·  2026.8.3–8.8  ·  7/10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6D0"/>
          </a:solidFill>
          <a:ln w="12700">
            <a:solidFill>
              <a:srgbClr val="F3E6D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56032" y="256032"/>
            <a:ext cx="11676888" cy="6345936"/>
          </a:xfrm>
          <a:prstGeom prst="rect">
            <a:avLst/>
          </a:prstGeom>
          <a:ln w="12700">
            <a:solidFill>
              <a:srgbClr val="2A2218">
                <a:alpha val="30000"/>
              </a:srgbClr>
            </a:solidFill>
            <a:prstDash val="dash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45C3E"/>
          </a:solidFill>
          <a:ln w="12700">
            <a:solidFill>
              <a:srgbClr val="C45C3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3657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45C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05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02920" y="6858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22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深海鯨鯊 · 星野草皮公園與天王寺在地晚餐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02920" y="11430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8/7（週五）  ·  大阪港 → 天王寺  ·  「看鯨鯊全室內避暑，傍晚草皮散步」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02920" y="1645920"/>
            <a:ext cx="3657600" cy="3931920"/>
          </a:xfrm>
          <a:prstGeom prst="roundRect">
            <a:avLst>
              <a:gd name="adj" fmla="val 2500"/>
            </a:avLst>
          </a:prstGeom>
          <a:solidFill>
            <a:srgbClr val="FFF8EB"/>
          </a:solidFill>
          <a:ln w="15875">
            <a:solidFill>
              <a:srgbClr val="C45C3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19202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45C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上午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85800" y="246888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A22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天保山海遊館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731520" y="3383280"/>
            <a:ext cx="3200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全室內恆溫避暑，無障礙推車動線看鯨鯊。天保山購物中心美食街午餐。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960120" y="4846320"/>
            <a:ext cx="2743200" cy="411480"/>
          </a:xfrm>
          <a:prstGeom prst="roundRect">
            <a:avLst>
              <a:gd name="adj" fmla="val 44444"/>
            </a:avLst>
          </a:prstGeom>
          <a:solidFill>
            <a:srgbClr val="E8F0E4"/>
          </a:solidFill>
          <a:ln/>
        </p:spPr>
      </p:sp>
      <p:sp>
        <p:nvSpPr>
          <p:cNvPr id="13" name="Text 11"/>
          <p:cNvSpPr/>
          <p:nvPr/>
        </p:nvSpPr>
        <p:spPr>
          <a:xfrm>
            <a:off x="960120" y="48920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B7F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室內恆溫 · 鯨鯊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343400" y="1645920"/>
            <a:ext cx="3657600" cy="3931920"/>
          </a:xfrm>
          <a:prstGeom prst="roundRect">
            <a:avLst>
              <a:gd name="adj" fmla="val 2500"/>
            </a:avLst>
          </a:prstGeom>
          <a:solidFill>
            <a:srgbClr val="FFF8EB"/>
          </a:solidFill>
          <a:ln w="15875">
            <a:solidFill>
              <a:srgbClr val="C45C3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343400" y="19202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45C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下午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526280" y="246888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A22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海遊館周邊 / OMO7 休整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4572000" y="3383280"/>
            <a:ext cx="3200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海遊館周邊漫步或返回 OMO7 大廳享受設施。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800600" y="4846320"/>
            <a:ext cx="2743200" cy="411480"/>
          </a:xfrm>
          <a:prstGeom prst="roundRect">
            <a:avLst>
              <a:gd name="adj" fmla="val 44444"/>
            </a:avLst>
          </a:prstGeom>
          <a:solidFill>
            <a:srgbClr val="E8F0E4"/>
          </a:solidFill>
          <a:ln/>
        </p:spPr>
      </p:sp>
      <p:sp>
        <p:nvSpPr>
          <p:cNvPr id="19" name="Text 17"/>
          <p:cNvSpPr/>
          <p:nvPr/>
        </p:nvSpPr>
        <p:spPr>
          <a:xfrm>
            <a:off x="4800600" y="48920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B7F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悠閒休整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183880" y="1645920"/>
            <a:ext cx="3657600" cy="3931920"/>
          </a:xfrm>
          <a:prstGeom prst="roundRect">
            <a:avLst>
              <a:gd name="adj" fmla="val 2500"/>
            </a:avLst>
          </a:prstGeom>
          <a:solidFill>
            <a:srgbClr val="FFF8EB"/>
          </a:solidFill>
          <a:ln w="15875">
            <a:solidFill>
              <a:srgbClr val="C45C3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183880" y="19202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45C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傍晚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366760" y="246888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A22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OMO7 大草皮公園散步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8412480" y="3383280"/>
            <a:ext cx="3200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享受草皮涼風，避開擁擠商圈，於天王寺圈享用在地晚餐。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8641080" y="4846320"/>
            <a:ext cx="2743200" cy="411480"/>
          </a:xfrm>
          <a:prstGeom prst="roundRect">
            <a:avLst>
              <a:gd name="adj" fmla="val 44444"/>
            </a:avLst>
          </a:prstGeom>
          <a:solidFill>
            <a:srgbClr val="E8F0E4"/>
          </a:solidFill>
          <a:ln/>
        </p:spPr>
      </p:sp>
      <p:sp>
        <p:nvSpPr>
          <p:cNvPr id="25" name="Text 23"/>
          <p:cNvSpPr/>
          <p:nvPr/>
        </p:nvSpPr>
        <p:spPr>
          <a:xfrm>
            <a:off x="8641080" y="48920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B7F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草皮散步 · 在地晚餐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57200" y="6446520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4A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京都 · 大阪 親子行程  ·  2026.8.3–8.8  ·  8/10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6D0"/>
          </a:solidFill>
          <a:ln w="12700">
            <a:solidFill>
              <a:srgbClr val="F3E6D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56032" y="256032"/>
            <a:ext cx="11676888" cy="6345936"/>
          </a:xfrm>
          <a:prstGeom prst="rect">
            <a:avLst/>
          </a:prstGeom>
          <a:ln w="12700">
            <a:solidFill>
              <a:srgbClr val="2A2218">
                <a:alpha val="30000"/>
              </a:srgbClr>
            </a:solidFill>
            <a:prstDash val="dash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5C4A38"/>
          </a:solidFill>
          <a:ln w="12700">
            <a:solidFill>
              <a:srgbClr val="5C4A3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3657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C4A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06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02920" y="6858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22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專車無縫直達機場 · 返台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02920" y="11430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8/8（週六）  ·  「早餐從容，專車到航廈門口」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783080" y="1737360"/>
            <a:ext cx="914400" cy="914400"/>
          </a:xfrm>
          <a:prstGeom prst="ellipse">
            <a:avLst/>
          </a:prstGeom>
          <a:solidFill>
            <a:srgbClr val="2A2218"/>
          </a:solidFill>
          <a:ln w="12700">
            <a:solidFill>
              <a:srgbClr val="2A221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783080" y="1920240"/>
            <a:ext cx="914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E6D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2834640" y="2194560"/>
            <a:ext cx="1737360" cy="0"/>
          </a:xfrm>
          <a:prstGeom prst="line">
            <a:avLst/>
          </a:prstGeom>
          <a:noFill/>
          <a:ln w="19050">
            <a:solidFill>
              <a:srgbClr val="2A2218">
                <a:alpha val="60000"/>
              </a:srgbClr>
            </a:solidFill>
            <a:prstDash val="dash"/>
          </a:ln>
        </p:spPr>
      </p:sp>
      <p:sp>
        <p:nvSpPr>
          <p:cNvPr id="11" name="Text 9"/>
          <p:cNvSpPr/>
          <p:nvPr/>
        </p:nvSpPr>
        <p:spPr>
          <a:xfrm>
            <a:off x="548640" y="29260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23B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08:30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85800" y="338328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A22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OMO7 精緻自助早餐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731520" y="4114800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不趕早班機壓力，好好吃一頓再退房。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623560" y="1737360"/>
            <a:ext cx="914400" cy="914400"/>
          </a:xfrm>
          <a:prstGeom prst="ellipse">
            <a:avLst/>
          </a:prstGeom>
          <a:solidFill>
            <a:srgbClr val="2A2218"/>
          </a:solidFill>
          <a:ln w="12700">
            <a:solidFill>
              <a:srgbClr val="2A221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23560" y="1920240"/>
            <a:ext cx="914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E6D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6675120" y="2194560"/>
            <a:ext cx="1737360" cy="0"/>
          </a:xfrm>
          <a:prstGeom prst="line">
            <a:avLst/>
          </a:prstGeom>
          <a:noFill/>
          <a:ln w="19050">
            <a:solidFill>
              <a:srgbClr val="2A2218">
                <a:alpha val="60000"/>
              </a:srgbClr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389120" y="29260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23B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10:00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526280" y="338328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A22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外派接駁車 D3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4572000" y="4114800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專車於 OMO7 大門接駕，行李上車直達 KIX 航廈門口。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9464040" y="1737360"/>
            <a:ext cx="914400" cy="914400"/>
          </a:xfrm>
          <a:prstGeom prst="ellipse">
            <a:avLst/>
          </a:prstGeom>
          <a:solidFill>
            <a:srgbClr val="2A2218"/>
          </a:solidFill>
          <a:ln w="12700">
            <a:solidFill>
              <a:srgbClr val="2A221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464040" y="1920240"/>
            <a:ext cx="914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E6D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8229600" y="29260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23B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11:00 前後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8366760" y="338328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A22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抵達機場 · JX821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8412480" y="4114800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13:15 起飛。通關後於機場兒童遊戲區最後放電與換尿布。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286000" y="5394960"/>
            <a:ext cx="7589520" cy="640080"/>
          </a:xfrm>
          <a:prstGeom prst="roundRect">
            <a:avLst>
              <a:gd name="adj" fmla="val 14286"/>
            </a:avLst>
          </a:prstGeom>
          <a:solidFill>
            <a:srgbClr val="1F1810"/>
          </a:solidFill>
          <a:ln/>
        </p:spPr>
      </p:sp>
      <p:sp>
        <p:nvSpPr>
          <p:cNvPr id="26" name="Text 24"/>
          <p:cNvSpPr/>
          <p:nvPr/>
        </p:nvSpPr>
        <p:spPr>
          <a:xfrm>
            <a:off x="2286000" y="5532120"/>
            <a:ext cx="7589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3E6D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星宇航空 JX821  ·  13:15 起飛  ·  順利返台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457200" y="6446520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4A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京都 · 大阪 親子行程  ·  2026.8.3–8.8  ·  9/10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181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457200"/>
            <a:ext cx="11274552" cy="5943600"/>
          </a:xfrm>
          <a:prstGeom prst="rect">
            <a:avLst/>
          </a:prstGeom>
          <a:ln w="19050">
            <a:solidFill>
              <a:srgbClr val="C9A22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7772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9A22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全程金句備忘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1371600" y="1463040"/>
            <a:ext cx="9418320" cy="1051560"/>
          </a:xfrm>
          <a:prstGeom prst="roundRect">
            <a:avLst>
              <a:gd name="adj" fmla="val 6957"/>
            </a:avLst>
          </a:prstGeom>
          <a:solidFill>
            <a:srgbClr val="2F261C"/>
          </a:solidFill>
          <a:ln w="12700">
            <a:solidFill>
              <a:srgbClr val="C9A227">
                <a:alpha val="60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645920" y="1600200"/>
            <a:ext cx="8869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9A22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御金 × 烏丸美食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645920" y="1965960"/>
            <a:ext cx="8869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3E6D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D1 傍晚快閃金色鳥居；D2 烏丸體驗大丸、寶可夢中心與敘敘苑燒肉。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371600" y="2697480"/>
            <a:ext cx="9418320" cy="1051560"/>
          </a:xfrm>
          <a:prstGeom prst="roundRect">
            <a:avLst>
              <a:gd name="adj" fmla="val 6957"/>
            </a:avLst>
          </a:prstGeom>
          <a:solidFill>
            <a:srgbClr val="2F261C"/>
          </a:solidFill>
          <a:ln w="12700">
            <a:solidFill>
              <a:srgbClr val="C9A227">
                <a:alpha val="6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645920" y="2834640"/>
            <a:ext cx="8869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9A22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專車三趟直達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645920" y="3200400"/>
            <a:ext cx="8869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3E6D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D1 KIX→京都 · D3 京都→OMO7 · D6 OMO7→KIX。零轉乘、行李不離身。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1371600" y="3931920"/>
            <a:ext cx="9418320" cy="1051560"/>
          </a:xfrm>
          <a:prstGeom prst="roundRect">
            <a:avLst>
              <a:gd name="adj" fmla="val 6957"/>
            </a:avLst>
          </a:prstGeom>
          <a:solidFill>
            <a:srgbClr val="2F261C"/>
          </a:solidFill>
          <a:ln w="12700">
            <a:solidFill>
              <a:srgbClr val="C9A227">
                <a:alpha val="6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645920" y="4069080"/>
            <a:ext cx="8869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9A22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幼兒彈性放電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645920" y="4434840"/>
            <a:ext cx="8869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3E6D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全室內避暑館（麵包超人/海遊館）· 天王寺集中採購 · 星野封閉大草皮安全奔跑。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731520" y="539496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C23B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Safe travels  ·  金運滿滿  ·  龍貝貝開心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731520" y="5806440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京都大阪親子手繪行程  ·  2026.8.3–8.8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京都大阪親子手繪行程 2026.8.3–8.8</dc:title>
  <dc:subject>專車直達版 · 含御金神社 · 烏丸燒肉</dc:subject>
  <dc:creator>Family Travel</dc:creator>
  <cp:lastModifiedBy>Family Travel</cp:lastModifiedBy>
  <cp:revision>1</cp:revision>
  <dcterms:created xsi:type="dcterms:W3CDTF">2026-07-21T08:03:28Z</dcterms:created>
  <dcterms:modified xsi:type="dcterms:W3CDTF">2026-07-21T08:03:28Z</dcterms:modified>
</cp:coreProperties>
</file>